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7/26/2020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7/26/2020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DFA1846-DA80-1C48-A609-854EA85C59AD}" type="datetimeFigureOut">
              <a:rPr lang="en-US" dirty="0"/>
              <a:pPr/>
              <a:t>7/26/2020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7/26/2020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7/26/2020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7/26/2020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7/26/2020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D0DF5E60-9974-AC48-9591-99C2BB44B7CF}" type="datetimeFigureOut">
              <a:rPr lang="en-US" dirty="0"/>
              <a:pPr/>
              <a:t>7/26/2020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s-ES" smtClean="0"/>
              <a:t>Haga clic para modificar el estilo de título del patrón</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7/26/2020</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18C79C5D-2A6F-F04D-97DA-BEF2467B64E4}" type="datetimeFigureOut">
              <a:rPr lang="en-US" dirty="0"/>
              <a:pPr/>
              <a:t>7/26/2020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8DFA1846-DA80-1C48-A609-854EA85C59AD}" type="datetimeFigureOut">
              <a:rPr lang="en-US" dirty="0"/>
              <a:pPr/>
              <a:t>7/26/2020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s-ES" smtClean="0"/>
              <a:t>Haga clic para modificar el estilo de título del patrón</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s-ES" smtClean="0"/>
              <a:t>Editar el estilo de texto del patrón</a:t>
            </a:r>
          </a:p>
        </p:txBody>
      </p:sp>
      <p:sp>
        <p:nvSpPr>
          <p:cNvPr id="2" name="Date Placeholder 1"/>
          <p:cNvSpPr>
            <a:spLocks noGrp="1"/>
          </p:cNvSpPr>
          <p:nvPr>
            <p:ph type="dt" sz="half" idx="10"/>
          </p:nvPr>
        </p:nvSpPr>
        <p:spPr/>
        <p:txBody>
          <a:bodyPr/>
          <a:lstStyle/>
          <a:p>
            <a:fld id="{FBF54567-0DE4-3F47-BF90-CB84690072F9}" type="datetimeFigureOut">
              <a:rPr lang="en-US" dirty="0"/>
              <a:pPr/>
              <a:t>7/26/2020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7/26/2020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7/26/2020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7/26/2020</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smtClean="0"/>
              <a:t>IBM DS </a:t>
            </a:r>
            <a:r>
              <a:rPr lang="es-MX" dirty="0" err="1" smtClean="0"/>
              <a:t>Capstone</a:t>
            </a:r>
            <a:r>
              <a:rPr lang="es-MX" dirty="0" smtClean="0"/>
              <a:t> Project</a:t>
            </a:r>
            <a:endParaRPr lang="es-MX" dirty="0"/>
          </a:p>
        </p:txBody>
      </p:sp>
      <p:sp>
        <p:nvSpPr>
          <p:cNvPr id="3" name="Subtítulo 2"/>
          <p:cNvSpPr>
            <a:spLocks noGrp="1"/>
          </p:cNvSpPr>
          <p:nvPr>
            <p:ph type="subTitle" idx="1"/>
          </p:nvPr>
        </p:nvSpPr>
        <p:spPr/>
        <p:txBody>
          <a:bodyPr/>
          <a:lstStyle/>
          <a:p>
            <a:endParaRPr lang="es-MX"/>
          </a:p>
        </p:txBody>
      </p:sp>
    </p:spTree>
    <p:extLst>
      <p:ext uri="{BB962C8B-B14F-4D97-AF65-F5344CB8AC3E}">
        <p14:creationId xmlns:p14="http://schemas.microsoft.com/office/powerpoint/2010/main" val="1361775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Description of the problem and a discussion of the background</a:t>
            </a:r>
            <a:endParaRPr lang="es-MX" dirty="0"/>
          </a:p>
        </p:txBody>
      </p:sp>
      <p:sp>
        <p:nvSpPr>
          <p:cNvPr id="3" name="Marcador de contenido 2"/>
          <p:cNvSpPr>
            <a:spLocks noGrp="1"/>
          </p:cNvSpPr>
          <p:nvPr>
            <p:ph idx="1"/>
          </p:nvPr>
        </p:nvSpPr>
        <p:spPr/>
        <p:txBody>
          <a:bodyPr>
            <a:normAutofit fontScale="62500" lnSpcReduction="20000"/>
          </a:bodyPr>
          <a:lstStyle/>
          <a:p>
            <a:r>
              <a:rPr lang="en-US" dirty="0"/>
              <a:t>Buenos Aires is the capital and the largest city of Argentina. Located on the western shore of Río de la Plata, is also known as the fourth metropolitan area in Latin America, with a population of around 16 million including greater Buenos Aires (source: Wikipedia). The city of Buenos Aires itself is an autonomous district. It is known for its European architecture, multicultural life and home of multiple ethnic and religious groups given by it's strong history of </a:t>
            </a:r>
            <a:r>
              <a:rPr lang="en-US" dirty="0" err="1"/>
              <a:t>inmigration</a:t>
            </a:r>
            <a:r>
              <a:rPr lang="en-US" dirty="0"/>
              <a:t>, both nationally (from interior to Buenos Aires) and internationally (mainly from Europe during 19th and 20th century, but also from bordering countries during last decades of 20th century). According to the 2010th census, the city of Buenos Aires had approximately 3 million people. The population of Greater Buenos Aires was more than 13 million.</a:t>
            </a:r>
          </a:p>
          <a:p>
            <a:endParaRPr lang="en-US" dirty="0"/>
          </a:p>
          <a:p>
            <a:r>
              <a:rPr lang="en-US" dirty="0"/>
              <a:t>More than 60% of the city's residents live in apartment buildings and 30% in single-family homes. Measured in terms of income, the city's has a low poverty rate compared to Greater BA and other provinces.</a:t>
            </a:r>
          </a:p>
          <a:p>
            <a:endParaRPr lang="en-US" dirty="0"/>
          </a:p>
          <a:p>
            <a:r>
              <a:rPr lang="en-US" dirty="0"/>
              <a:t>However and due to macroeconomic problems of last 20 to 30 years a lot of urban problems started to raise. Mainly urban growth, </a:t>
            </a:r>
            <a:r>
              <a:rPr lang="en-US" dirty="0" err="1"/>
              <a:t>accesable</a:t>
            </a:r>
            <a:r>
              <a:rPr lang="en-US" dirty="0"/>
              <a:t> housing, problems with the quality of public services, security, crimes, education, among others. Also there has </a:t>
            </a:r>
            <a:r>
              <a:rPr lang="en-US" dirty="0" err="1"/>
              <a:t>benn</a:t>
            </a:r>
            <a:r>
              <a:rPr lang="en-US" dirty="0"/>
              <a:t> a significant increase of "villas" that started to spread out across the city around 1980/1990's.</a:t>
            </a:r>
          </a:p>
          <a:p>
            <a:endParaRPr lang="en-US" dirty="0"/>
          </a:p>
          <a:p>
            <a:r>
              <a:rPr lang="en-US" dirty="0"/>
              <a:t>On the other hand, due to the implosion of financial sector during last 20 years crisis, mortgage loans have been </a:t>
            </a:r>
            <a:r>
              <a:rPr lang="en-US" dirty="0" err="1"/>
              <a:t>rapidily</a:t>
            </a:r>
            <a:r>
              <a:rPr lang="en-US" dirty="0"/>
              <a:t> decreasing, therefore, a lot of families and new generations of citizens, have started to live in rented houses or apartments, rather than buying one with bank debt, unlike older generations of citizens.</a:t>
            </a:r>
          </a:p>
          <a:p>
            <a:endParaRPr lang="en-US" dirty="0"/>
          </a:p>
          <a:p>
            <a:r>
              <a:rPr lang="en-US" dirty="0"/>
              <a:t>Purpose of this project: locate the best neighborhood in the City of Buenos Aires, to rent an apartment.</a:t>
            </a:r>
            <a:endParaRPr lang="es-MX" dirty="0"/>
          </a:p>
        </p:txBody>
      </p:sp>
    </p:spTree>
    <p:extLst>
      <p:ext uri="{BB962C8B-B14F-4D97-AF65-F5344CB8AC3E}">
        <p14:creationId xmlns:p14="http://schemas.microsoft.com/office/powerpoint/2010/main" val="2057030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Description of the data and how it will be used to solve the problem</a:t>
            </a:r>
            <a:endParaRPr lang="es-MX" dirty="0"/>
          </a:p>
        </p:txBody>
      </p:sp>
      <p:sp>
        <p:nvSpPr>
          <p:cNvPr id="3" name="Marcador de contenido 2"/>
          <p:cNvSpPr>
            <a:spLocks noGrp="1"/>
          </p:cNvSpPr>
          <p:nvPr>
            <p:ph idx="1"/>
          </p:nvPr>
        </p:nvSpPr>
        <p:spPr/>
        <p:txBody>
          <a:bodyPr>
            <a:normAutofit/>
          </a:bodyPr>
          <a:lstStyle/>
          <a:p>
            <a:r>
              <a:rPr lang="en-US" dirty="0"/>
              <a:t>In order to perform the analysis for the project, some information has to be retrieved and analyze.</a:t>
            </a:r>
          </a:p>
          <a:p>
            <a:endParaRPr lang="en-US" dirty="0"/>
          </a:p>
          <a:p>
            <a:pPr lvl="1"/>
            <a:r>
              <a:rPr lang="en-US" dirty="0"/>
              <a:t>1. Foursquare API Data: foursquare location information regarding data about different venues in different neighborhoods.</a:t>
            </a:r>
          </a:p>
          <a:p>
            <a:pPr lvl="1"/>
            <a:r>
              <a:rPr lang="en-US" dirty="0"/>
              <a:t>2. List of Buenos Aires neighborhoods.</a:t>
            </a:r>
            <a:endParaRPr lang="es-MX" dirty="0"/>
          </a:p>
        </p:txBody>
      </p:sp>
    </p:spTree>
    <p:extLst>
      <p:ext uri="{BB962C8B-B14F-4D97-AF65-F5344CB8AC3E}">
        <p14:creationId xmlns:p14="http://schemas.microsoft.com/office/powerpoint/2010/main" val="401898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a:t>Description of libraries and how they will be used</a:t>
            </a:r>
            <a:endParaRPr lang="es-MX" dirty="0"/>
          </a:p>
        </p:txBody>
      </p:sp>
      <p:sp>
        <p:nvSpPr>
          <p:cNvPr id="3" name="Marcador de contenido 2"/>
          <p:cNvSpPr>
            <a:spLocks noGrp="1"/>
          </p:cNvSpPr>
          <p:nvPr>
            <p:ph idx="1"/>
          </p:nvPr>
        </p:nvSpPr>
        <p:spPr/>
        <p:txBody>
          <a:bodyPr>
            <a:normAutofit/>
          </a:bodyPr>
          <a:lstStyle/>
          <a:p>
            <a:r>
              <a:rPr lang="en-US" dirty="0"/>
              <a:t>1. Pandas: create and manipulate data frames.</a:t>
            </a:r>
          </a:p>
          <a:p>
            <a:r>
              <a:rPr lang="en-US" dirty="0"/>
              <a:t>2. Folium: visualization library to visualize the neighborhood cluster distribution using maps.</a:t>
            </a:r>
          </a:p>
          <a:p>
            <a:r>
              <a:rPr lang="en-US" dirty="0"/>
              <a:t>3. </a:t>
            </a:r>
            <a:r>
              <a:rPr lang="en-US" dirty="0" err="1"/>
              <a:t>Scikit</a:t>
            </a:r>
            <a:r>
              <a:rPr lang="en-US" dirty="0"/>
              <a:t> Learn: k-means clustering.</a:t>
            </a:r>
          </a:p>
          <a:p>
            <a:r>
              <a:rPr lang="en-US" dirty="0"/>
              <a:t>4. JSON: handle JSON files.</a:t>
            </a:r>
          </a:p>
          <a:p>
            <a:r>
              <a:rPr lang="en-US" dirty="0"/>
              <a:t>5. Geocoder: retrieve Location Data.</a:t>
            </a:r>
            <a:endParaRPr lang="es-MX" dirty="0"/>
          </a:p>
        </p:txBody>
      </p:sp>
    </p:spTree>
    <p:extLst>
      <p:ext uri="{BB962C8B-B14F-4D97-AF65-F5344CB8AC3E}">
        <p14:creationId xmlns:p14="http://schemas.microsoft.com/office/powerpoint/2010/main" val="131263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Map of all Buenos Aires neighborhoods</a:t>
            </a:r>
            <a:endParaRPr lang="es-MX" dirty="0"/>
          </a:p>
        </p:txBody>
      </p:sp>
      <p:pic>
        <p:nvPicPr>
          <p:cNvPr id="7" name="Imagen 6"/>
          <p:cNvPicPr/>
          <p:nvPr/>
        </p:nvPicPr>
        <p:blipFill rotWithShape="1">
          <a:blip r:embed="rId2"/>
          <a:srcRect l="41456" t="22381" r="18389" b="20319"/>
          <a:stretch/>
        </p:blipFill>
        <p:spPr bwMode="auto">
          <a:xfrm>
            <a:off x="2966459" y="2226223"/>
            <a:ext cx="6111039" cy="429926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1298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Table with the number of venues of each Buenos Aires neighborhoods</a:t>
            </a:r>
            <a:endParaRPr lang="es-MX" dirty="0"/>
          </a:p>
        </p:txBody>
      </p:sp>
      <p:pic>
        <p:nvPicPr>
          <p:cNvPr id="4" name="Imagen 3"/>
          <p:cNvPicPr>
            <a:picLocks noChangeAspect="1"/>
          </p:cNvPicPr>
          <p:nvPr/>
        </p:nvPicPr>
        <p:blipFill>
          <a:blip r:embed="rId2"/>
          <a:stretch>
            <a:fillRect/>
          </a:stretch>
        </p:blipFill>
        <p:spPr>
          <a:xfrm>
            <a:off x="4188310" y="2044276"/>
            <a:ext cx="3699000" cy="4698000"/>
          </a:xfrm>
          <a:prstGeom prst="rect">
            <a:avLst/>
          </a:prstGeom>
        </p:spPr>
      </p:pic>
    </p:spTree>
    <p:extLst>
      <p:ext uri="{BB962C8B-B14F-4D97-AF65-F5344CB8AC3E}">
        <p14:creationId xmlns:p14="http://schemas.microsoft.com/office/powerpoint/2010/main" val="234018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Map with all the clusters of Buenos Aires</a:t>
            </a:r>
            <a:endParaRPr lang="es-MX" dirty="0"/>
          </a:p>
        </p:txBody>
      </p:sp>
      <p:pic>
        <p:nvPicPr>
          <p:cNvPr id="5" name="Imagen 4"/>
          <p:cNvPicPr/>
          <p:nvPr/>
        </p:nvPicPr>
        <p:blipFill rotWithShape="1">
          <a:blip r:embed="rId2"/>
          <a:srcRect l="31680" t="28409" r="35867" b="19863"/>
          <a:stretch/>
        </p:blipFill>
        <p:spPr bwMode="auto">
          <a:xfrm>
            <a:off x="3390178" y="2169362"/>
            <a:ext cx="5047240" cy="438106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0254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Results with all clusters</a:t>
            </a:r>
            <a:endParaRPr lang="es-MX" dirty="0"/>
          </a:p>
        </p:txBody>
      </p:sp>
      <p:pic>
        <p:nvPicPr>
          <p:cNvPr id="6" name="Imagen 5"/>
          <p:cNvPicPr/>
          <p:nvPr/>
        </p:nvPicPr>
        <p:blipFill rotWithShape="1">
          <a:blip r:embed="rId2"/>
          <a:srcRect l="17771" t="29128" r="19845" b="26885"/>
          <a:stretch/>
        </p:blipFill>
        <p:spPr bwMode="auto">
          <a:xfrm>
            <a:off x="1495308" y="2270528"/>
            <a:ext cx="9070168" cy="419677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66102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Results with all clusters</a:t>
            </a:r>
            <a:endParaRPr lang="es-MX" dirty="0"/>
          </a:p>
        </p:txBody>
      </p:sp>
      <p:pic>
        <p:nvPicPr>
          <p:cNvPr id="3" name="Imagen 2"/>
          <p:cNvPicPr/>
          <p:nvPr/>
        </p:nvPicPr>
        <p:blipFill rotWithShape="1">
          <a:blip r:embed="rId2"/>
          <a:srcRect l="17476" t="15653" r="19327" b="44183"/>
          <a:stretch/>
        </p:blipFill>
        <p:spPr bwMode="auto">
          <a:xfrm>
            <a:off x="1829261" y="2502881"/>
            <a:ext cx="9409545" cy="373166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57267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Results with all clusters</a:t>
            </a:r>
            <a:endParaRPr lang="es-MX" dirty="0"/>
          </a:p>
        </p:txBody>
      </p:sp>
      <p:pic>
        <p:nvPicPr>
          <p:cNvPr id="3" name="Imagen 2"/>
          <p:cNvPicPr/>
          <p:nvPr/>
        </p:nvPicPr>
        <p:blipFill rotWithShape="1">
          <a:blip r:embed="rId2"/>
          <a:srcRect l="17476" t="56770" r="19327" b="19134"/>
          <a:stretch/>
        </p:blipFill>
        <p:spPr bwMode="auto">
          <a:xfrm>
            <a:off x="490912" y="2389592"/>
            <a:ext cx="11080404" cy="302199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51925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smtClean="0"/>
              <a:t>Discussion and Conclusion</a:t>
            </a:r>
            <a:endParaRPr lang="es-MX" dirty="0"/>
          </a:p>
        </p:txBody>
      </p:sp>
      <p:sp>
        <p:nvSpPr>
          <p:cNvPr id="3" name="Marcador de contenido 2"/>
          <p:cNvSpPr>
            <a:spLocks noGrp="1"/>
          </p:cNvSpPr>
          <p:nvPr>
            <p:ph idx="1"/>
          </p:nvPr>
        </p:nvSpPr>
        <p:spPr>
          <a:xfrm>
            <a:off x="818712" y="2222287"/>
            <a:ext cx="10554574" cy="3636511"/>
          </a:xfrm>
        </p:spPr>
        <p:txBody>
          <a:bodyPr>
            <a:normAutofit fontScale="85000" lnSpcReduction="10000"/>
          </a:bodyPr>
          <a:lstStyle/>
          <a:p>
            <a:r>
              <a:rPr lang="en-US" dirty="0"/>
              <a:t>The k-means algorithm searches for a pre-determined number of clusters within an unlabeled multidimensional dataset. It accomplishes this using a simple conception of what the optimal clustering looks like. The "cluster center" is the arithmetic mean of all the points belonging to the cluster.</a:t>
            </a:r>
          </a:p>
          <a:p>
            <a:r>
              <a:rPr lang="en-US" dirty="0"/>
              <a:t>Each point is closer to its own cluster center than to other cluster centers.</a:t>
            </a:r>
          </a:p>
          <a:p>
            <a:endParaRPr lang="en-US" dirty="0"/>
          </a:p>
          <a:p>
            <a:r>
              <a:rPr lang="en-US" dirty="0"/>
              <a:t>This model assumes that points will be closer to their own cluster center than to others, meaning means that the algorithm will often be ineffective if the clusters have complicated geometries.</a:t>
            </a:r>
          </a:p>
          <a:p>
            <a:endParaRPr lang="en-US" dirty="0"/>
          </a:p>
          <a:p>
            <a:r>
              <a:rPr lang="en-US" dirty="0"/>
              <a:t>Nevertheless, it is still good to localize certain "sub-centers" of the city and try to understand if there are certain common patterns in each one of them. for example: In the last cluster, is pretty clear that top venues are related to "food experience". I.e. cafe, pizza places, restaurants, ice cream shops, etc. </a:t>
            </a:r>
            <a:endParaRPr lang="en-US" dirty="0" smtClean="0"/>
          </a:p>
          <a:p>
            <a:endParaRPr lang="en-US" dirty="0"/>
          </a:p>
          <a:p>
            <a:r>
              <a:rPr lang="en-US" dirty="0" smtClean="0"/>
              <a:t>Therefore, I will use this information to determine the best place to rent my apartment.</a:t>
            </a:r>
            <a:endParaRPr lang="es-MX" dirty="0"/>
          </a:p>
        </p:txBody>
      </p:sp>
    </p:spTree>
    <p:extLst>
      <p:ext uri="{BB962C8B-B14F-4D97-AF65-F5344CB8AC3E}">
        <p14:creationId xmlns:p14="http://schemas.microsoft.com/office/powerpoint/2010/main" val="8958720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table">
  <a:themeElements>
    <a:clrScheme name="Quotable">
      <a:dk1>
        <a:sysClr val="windowText" lastClr="000000"/>
      </a:dk1>
      <a:lt1>
        <a:sysClr val="window" lastClr="FFFFFF"/>
      </a:lt1>
      <a:dk2>
        <a:srgbClr val="212121"/>
      </a:dk2>
      <a:lt2>
        <a:srgbClr val="636363"/>
      </a:lt2>
      <a:accent1>
        <a:srgbClr val="9ECD33"/>
      </a:accent1>
      <a:accent2>
        <a:srgbClr val="E19933"/>
      </a:accent2>
      <a:accent3>
        <a:srgbClr val="DC5D3D"/>
      </a:accent3>
      <a:accent4>
        <a:srgbClr val="A967CB"/>
      </a:accent4>
      <a:accent5>
        <a:srgbClr val="5EA5DD"/>
      </a:accent5>
      <a:accent6>
        <a:srgbClr val="44BEA9"/>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98D1675B-7325-48AD-994B-0DEF3379A98D}"/>
    </a:ext>
  </a:extLst>
</a:theme>
</file>

<file path=docProps/app.xml><?xml version="1.0" encoding="utf-8"?>
<Properties xmlns="http://schemas.openxmlformats.org/officeDocument/2006/extended-properties" xmlns:vt="http://schemas.openxmlformats.org/officeDocument/2006/docPropsVTypes">
  <Template>TM03457503[[fn=Citable]]</Template>
  <TotalTime>62</TotalTime>
  <Words>691</Words>
  <Application>Microsoft Office PowerPoint</Application>
  <PresentationFormat>Panorámica</PresentationFormat>
  <Paragraphs>37</Paragraphs>
  <Slides>11</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Century Gothic</vt:lpstr>
      <vt:lpstr>Wingdings 2</vt:lpstr>
      <vt:lpstr>Citable</vt:lpstr>
      <vt:lpstr>IBM DS Capstone Project</vt:lpstr>
      <vt:lpstr>Description of the problem and a discussion of the background</vt:lpstr>
      <vt:lpstr>Description of the data and how it will be used to solve the problem</vt:lpstr>
      <vt:lpstr>Description of libraries and how they will be used</vt:lpstr>
      <vt:lpstr>Map of all Buenos Aires neighborhoods</vt:lpstr>
      <vt:lpstr>Table with the number of venues of each Buenos Aires neighborhoods</vt:lpstr>
      <vt:lpstr>Map with all the clusters of Buenos Aires</vt:lpstr>
      <vt:lpstr>Results with all clusters</vt:lpstr>
      <vt:lpstr>Results with all clusters</vt:lpstr>
      <vt:lpstr>Results with all clusters</vt:lpstr>
      <vt:lpstr>Discussion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PC</dc:creator>
  <cp:lastModifiedBy>PC</cp:lastModifiedBy>
  <cp:revision>4</cp:revision>
  <dcterms:created xsi:type="dcterms:W3CDTF">2020-07-26T12:47:18Z</dcterms:created>
  <dcterms:modified xsi:type="dcterms:W3CDTF">2020-07-26T13:50:01Z</dcterms:modified>
</cp:coreProperties>
</file>